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numbers: this is not a mock-up, the real roster is already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Closures come straight from the published school calendar, so no snack day is ever scheduled on a day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term, not a commitment. The whiteboard stays up as the safety 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 Families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Burlington Montessori School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snack whiteboard and the email chase with one small app parents keep on their phone — built for this school, already running on its roster.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4754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5394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 published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468880" cy="2148840"/>
          </a:xfrm>
          <a:prstGeom prst="roundRect">
            <a:avLst>
              <a:gd name="adj" fmla="val 7660"/>
            </a:avLst>
          </a:prstGeom>
          <a:solidFill>
            <a:srgbClr val="3F6F52"/>
          </a:solidFill>
          <a:ln w="12700">
            <a:solidFill>
              <a:srgbClr val="4F84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81160" y="2029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2860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108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34564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bringing snacks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snack days cost the office 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frictions that add up to chased parents and empty snack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all runs on email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70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Sign-ups, reminders and swaps go out as email. Threads get buried, and a parent who missed one has no way to catch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39828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 is on a wall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7004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only see the whiteboard by standing in front of it. Nobody knows what is free without asking the office.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3642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reminds anyone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in September for a day in November means remembering it unaided. Some families simply forget.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36424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days have nobody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36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day is only noticed when it arrives — and by then the class has no snack.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parents get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whiteboard, on their phone — and it does the reminding.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024482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to take a day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2219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term at a glance, holidays already removed. Free days are obvious; taken days show who has them.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10347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9535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child's name on the board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300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with two children picks the child; the classroom follows. Exactly what the whiteboard said.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50792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4182466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0325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Reminded without being nagged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37997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 before their day, a week ahead, and when days need a family. Never to someone already booked.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29784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5261458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11149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home screen like an app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54589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email the school holds. No app store, no password to forget.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858000" y="1783080"/>
            <a:ext cx="4901184" cy="4215384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086600" y="1938528"/>
            <a:ext cx="4251960" cy="384048"/>
          </a:xfrm>
          <a:prstGeom prst="roundRect">
            <a:avLst>
              <a:gd name="adj" fmla="val 50000"/>
            </a:avLst>
          </a:prstGeom>
          <a:solidFill>
            <a:srgbClr val="EFEC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132320" y="1975104"/>
            <a:ext cx="208483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7132320" y="19751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Classroom 3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9253728" y="1975104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pPr algn="ctr" indent="0" marL="0">
              <a:buNone/>
            </a:pPr>
            <a:r>
              <a:rPr lang="en-US" sz="900" dirty="0">
                <a:solidFill>
                  <a:srgbClr val="9A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Classroom 2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2450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 · Classroom 3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17804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804672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891540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50" dirty="0"/>
          </a:p>
        </p:txBody>
      </p:sp>
      <p:sp>
        <p:nvSpPr>
          <p:cNvPr id="29" name="Text 23"/>
          <p:cNvSpPr txBox="1"/>
          <p:nvPr/>
        </p:nvSpPr>
        <p:spPr>
          <a:xfrm>
            <a:off x="978408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10652760" y="274320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17804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17804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717804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804672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04672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804672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891540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91540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891540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978408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78408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978408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10652760" y="30175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10652760" y="30632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10652760" y="33009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17804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17804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717804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804672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804672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51" name="Text 45"/>
          <p:cNvSpPr txBox="1"/>
          <p:nvPr/>
        </p:nvSpPr>
        <p:spPr>
          <a:xfrm>
            <a:off x="804672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891540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3F6F52"/>
          </a:solidFill>
          <a:ln w="12700">
            <a:solidFill>
              <a:srgbClr val="3F6F52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891540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54" name="Text 48"/>
          <p:cNvSpPr txBox="1"/>
          <p:nvPr/>
        </p:nvSpPr>
        <p:spPr>
          <a:xfrm>
            <a:off x="891540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978408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78408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57" name="Text 51"/>
          <p:cNvSpPr txBox="1"/>
          <p:nvPr/>
        </p:nvSpPr>
        <p:spPr>
          <a:xfrm>
            <a:off x="978408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10652760" y="37033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10652760" y="37490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60" name="Text 54"/>
          <p:cNvSpPr txBox="1"/>
          <p:nvPr/>
        </p:nvSpPr>
        <p:spPr>
          <a:xfrm>
            <a:off x="10652760" y="39867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717804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717804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3" name="Text 57"/>
          <p:cNvSpPr txBox="1"/>
          <p:nvPr/>
        </p:nvSpPr>
        <p:spPr>
          <a:xfrm>
            <a:off x="717804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64" name="Shape 58"/>
          <p:cNvSpPr/>
          <p:nvPr/>
        </p:nvSpPr>
        <p:spPr>
          <a:xfrm>
            <a:off x="804672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804672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6" name="Text 60"/>
          <p:cNvSpPr txBox="1"/>
          <p:nvPr/>
        </p:nvSpPr>
        <p:spPr>
          <a:xfrm>
            <a:off x="804672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891540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891540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50" dirty="0"/>
          </a:p>
        </p:txBody>
      </p:sp>
      <p:sp>
        <p:nvSpPr>
          <p:cNvPr id="69" name="Text 63"/>
          <p:cNvSpPr txBox="1"/>
          <p:nvPr/>
        </p:nvSpPr>
        <p:spPr>
          <a:xfrm>
            <a:off x="891540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978408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978408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  <p:sp>
        <p:nvSpPr>
          <p:cNvPr id="72" name="Text 66"/>
          <p:cNvSpPr txBox="1"/>
          <p:nvPr/>
        </p:nvSpPr>
        <p:spPr>
          <a:xfrm>
            <a:off x="978408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73" name="Shape 67"/>
          <p:cNvSpPr/>
          <p:nvPr/>
        </p:nvSpPr>
        <p:spPr>
          <a:xfrm>
            <a:off x="10652760" y="43891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10652760" y="4434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75" name="Text 69"/>
          <p:cNvSpPr txBox="1"/>
          <p:nvPr/>
        </p:nvSpPr>
        <p:spPr>
          <a:xfrm>
            <a:off x="10652760" y="46725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76" name="Shape 70"/>
          <p:cNvSpPr/>
          <p:nvPr/>
        </p:nvSpPr>
        <p:spPr>
          <a:xfrm>
            <a:off x="717804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717804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50" dirty="0"/>
          </a:p>
        </p:txBody>
      </p:sp>
      <p:sp>
        <p:nvSpPr>
          <p:cNvPr id="78" name="Text 72"/>
          <p:cNvSpPr txBox="1"/>
          <p:nvPr/>
        </p:nvSpPr>
        <p:spPr>
          <a:xfrm>
            <a:off x="717804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850" dirty="0"/>
          </a:p>
        </p:txBody>
      </p:sp>
      <p:sp>
        <p:nvSpPr>
          <p:cNvPr id="79" name="Shape 73"/>
          <p:cNvSpPr/>
          <p:nvPr/>
        </p:nvSpPr>
        <p:spPr>
          <a:xfrm>
            <a:off x="804672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804672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50" dirty="0"/>
          </a:p>
        </p:txBody>
      </p:sp>
      <p:sp>
        <p:nvSpPr>
          <p:cNvPr id="81" name="Text 75"/>
          <p:cNvSpPr txBox="1"/>
          <p:nvPr/>
        </p:nvSpPr>
        <p:spPr>
          <a:xfrm>
            <a:off x="804672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82" name="Shape 76"/>
          <p:cNvSpPr/>
          <p:nvPr/>
        </p:nvSpPr>
        <p:spPr>
          <a:xfrm>
            <a:off x="891540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891540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50" dirty="0"/>
          </a:p>
        </p:txBody>
      </p:sp>
      <p:sp>
        <p:nvSpPr>
          <p:cNvPr id="84" name="Text 78"/>
          <p:cNvSpPr txBox="1"/>
          <p:nvPr/>
        </p:nvSpPr>
        <p:spPr>
          <a:xfrm>
            <a:off x="891540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85" name="Shape 79"/>
          <p:cNvSpPr/>
          <p:nvPr/>
        </p:nvSpPr>
        <p:spPr>
          <a:xfrm>
            <a:off x="978408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978408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50" dirty="0"/>
          </a:p>
        </p:txBody>
      </p:sp>
      <p:sp>
        <p:nvSpPr>
          <p:cNvPr id="87" name="Text 81"/>
          <p:cNvSpPr txBox="1"/>
          <p:nvPr/>
        </p:nvSpPr>
        <p:spPr>
          <a:xfrm>
            <a:off x="978408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endParaRPr lang="en-US" sz="850" dirty="0"/>
          </a:p>
        </p:txBody>
      </p:sp>
      <p:sp>
        <p:nvSpPr>
          <p:cNvPr id="88" name="Shape 82"/>
          <p:cNvSpPr/>
          <p:nvPr/>
        </p:nvSpPr>
        <p:spPr>
          <a:xfrm>
            <a:off x="10652760" y="5074920"/>
            <a:ext cx="78638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9" name="Text 83"/>
          <p:cNvSpPr txBox="1"/>
          <p:nvPr/>
        </p:nvSpPr>
        <p:spPr>
          <a:xfrm>
            <a:off x="10652760" y="51206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50" dirty="0"/>
          </a:p>
        </p:txBody>
      </p:sp>
      <p:sp>
        <p:nvSpPr>
          <p:cNvPr id="90" name="Text 84"/>
          <p:cNvSpPr txBox="1"/>
          <p:nvPr/>
        </p:nvSpPr>
        <p:spPr>
          <a:xfrm>
            <a:off x="10652760" y="5358384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office gets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chasing, and a roster that came from the spreadsheet you already keep.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roster you have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5176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the contact spreadsheet as it is. It reads the layout, flags anything it cannot use, and never creates a record you have not seen first.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39828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gaps before they arrive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5176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classroom: how many days are filled, which are still open, and which children have nothing booked.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28" y="436424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child in a minute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177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first, then parents — if a parent is already on the roster, the child is simply linked to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36424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the school actually has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177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are never placed in one classroom. Days lock two days out. Parents can't swap once a term is full. Staff can always override.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already runs on your roster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against the real contact sheet, not a demo. Nothing here is invented.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traced back to a row on the sheet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0332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20 · 21 across three classrooms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holidays removed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192024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116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sign in today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 email on file; 10 still need 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27080" cy="1554480"/>
          </a:xfrm>
          <a:prstGeom prst="roundRect">
            <a:avLst>
              <a:gd name="adj" fmla="val 8235"/>
            </a:avLst>
          </a:prstGeom>
          <a:solidFill>
            <a:srgbClr val="E7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074" y="4566514"/>
            <a:ext cx="285293" cy="28529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45920" y="4389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import matched the spreadsheet on every child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473659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parents per child, two children per family, a phone typed as a number, a second contact on the next row, a classroom heading above the column titles — all read correctly. What it could not use, it listed by row number for the office to fix, rather than guessing.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costs, and what we need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per-family fees. It runs on the school’s own cloud account.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93776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23262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cost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F6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$5 a month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61188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it is a fixed fee for storing two secrets securely.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 cost fractions of a cent each.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licences, no per-parent pricing, no contract.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messages, if switched on later: about $2 a month for a number plus roughly a cent per text.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only the school can do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035040" y="248716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935" y="261006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20840" y="24688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three lines to the school’s domain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279806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email comes from @burlingtonmontessori.org and lands in the inbox, not spam. Ten minutes for whoever manages the website.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358444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7935" y="3707343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35661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ten missing email addresses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389534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families have no email on file and cannot sign in until they do. The app lists exactly who.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35040" y="4681728"/>
            <a:ext cx="512064" cy="512064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935" y="4804623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4663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on text messages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4992624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Email works today; texts need a registered number (~$2/month) and a few days of carrier paperwork.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snack days on the app for the autumn term, alongside the whiteboard, and judge it on one question: did fewer days go unfilled?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three DNS lines. Office adds the ten missing emails. Parents get a one-page “add it to your phone” note.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Autumn term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sign up on the app. Reminders run. Office keeps the whiteboard as a fallback and watches the coverage view.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468880"/>
            <a:ext cx="3383280" cy="2057400"/>
          </a:xfrm>
          <a:prstGeom prst="roundRect">
            <a:avLst>
              <a:gd name="adj" fmla="val 6222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606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DBF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1546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December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5204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unfilled days and office hours spent chasing against last year. Decide whether to keep it.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earns its place: tuition reminders, important-dates notices and a parent Q&amp;A assistant reuse everything already built.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Families — a proposal</dc:title>
  <dc:subject>PptxGenJS Presentation</dc:subject>
  <dc:creator>Burlington Montessori School</dc:creator>
  <cp:lastModifiedBy>Burlington Montessori School</cp:lastModifiedBy>
  <cp:revision>1</cp:revision>
  <dcterms:created xsi:type="dcterms:W3CDTF">2026-09-25T16:12:49Z</dcterms:created>
  <dcterms:modified xsi:type="dcterms:W3CDTF">2026-09-25T16:12:49Z</dcterms:modified>
</cp:coreProperties>
</file>