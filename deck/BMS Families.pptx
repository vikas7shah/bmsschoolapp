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Snack days at BMS run on a whiteboard and a lot of email. This is what replaced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whiteboard was fine as a list. It just could not tell anyone anything.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School closures come from the published school calendar, so no snack day is ever scheduled on a day 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Nobody who has already taken a turn is ever nudged — that is what stops parents muting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on this slide is live data from the running system, not a mock-up.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94C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BMS Families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7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the snack whiteboard at Burlington Montessori School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4290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DB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sign-up sheet that remembers, and reminds.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8006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440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108960" y="48006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3108960" y="5440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394960" y="48006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5394960" y="5440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accounts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869680" y="2103120"/>
            <a:ext cx="2651760" cy="2286000"/>
          </a:xfrm>
          <a:prstGeom prst="roundRect">
            <a:avLst>
              <a:gd name="adj" fmla="val 7200"/>
            </a:avLst>
          </a:prstGeom>
          <a:solidFill>
            <a:srgbClr val="3F6F52"/>
          </a:solidFill>
          <a:ln w="12700">
            <a:solidFill>
              <a:srgbClr val="4F846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098280" y="2331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D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098280" y="26060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5200" dirty="0"/>
          </a:p>
        </p:txBody>
      </p:sp>
      <p:sp>
        <p:nvSpPr>
          <p:cNvPr id="14" name="Text 12"/>
          <p:cNvSpPr txBox="1"/>
          <p:nvPr/>
        </p:nvSpPr>
        <p:spPr>
          <a:xfrm>
            <a:off x="9098280" y="3474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Amelia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9098280" y="3840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D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bringing snacks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 going wrong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small frictions that added up to chased-down parents and empty snack days.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2578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  <a:effectLst>
            <a:outerShdw sx="100000" sy="100000" kx="0" ky="0" algn="bl" rotWithShape="0" blurRad="152400" dist="25400" dir="5400000">
              <a:srgbClr val="9A9384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40280"/>
            <a:ext cx="658368" cy="658368"/>
          </a:xfrm>
          <a:prstGeom prst="ellipse">
            <a:avLst/>
          </a:prstGeom>
          <a:solidFill>
            <a:srgbClr val="C4643C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2395728"/>
            <a:ext cx="347472" cy="347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10512" y="224942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lived in email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1810512" y="2670048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Sign-ups, reminders and swaps all went out as email. Threads got buried, and a parent who missed one had no way to catch up.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09360" y="1920240"/>
            <a:ext cx="52578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  <a:effectLst>
            <a:outerShdw sx="100000" sy="100000" kx="0" ky="0" algn="bl" rotWithShape="0" blurRad="152400" dist="25400" dir="5400000">
              <a:srgbClr val="9A9384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29400" y="2240280"/>
            <a:ext cx="658368" cy="658368"/>
          </a:xfrm>
          <a:prstGeom prst="ellipse">
            <a:avLst/>
          </a:prstGeom>
          <a:solidFill>
            <a:srgbClr val="C4643C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848" y="2395728"/>
            <a:ext cx="347472" cy="34747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79792" y="224942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list was on a wall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7479792" y="2670048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could only see the whiteboard by standing in front of it. Nobody knew what was free without asking the office.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3886200"/>
            <a:ext cx="52578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  <a:effectLst>
            <a:outerShdw sx="100000" sy="100000" kx="0" ky="0" algn="bl" rotWithShape="0" blurRad="152400" dist="25400" dir="5400000">
              <a:srgbClr val="9A9384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60120" y="4206240"/>
            <a:ext cx="658368" cy="658368"/>
          </a:xfrm>
          <a:prstGeom prst="ellipse">
            <a:avLst/>
          </a:prstGeom>
          <a:solidFill>
            <a:srgbClr val="C4643C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4361688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810512" y="421538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reminded anyone</a:t>
            </a:r>
            <a:endParaRPr lang="en-US" sz="1900" dirty="0"/>
          </a:p>
        </p:txBody>
      </p:sp>
      <p:sp>
        <p:nvSpPr>
          <p:cNvPr id="18" name="Text 13"/>
          <p:cNvSpPr txBox="1"/>
          <p:nvPr/>
        </p:nvSpPr>
        <p:spPr>
          <a:xfrm>
            <a:off x="1810512" y="4636008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Signing up in September for a day in November meant remembering it unaided. Some families simply forgot.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309360" y="3886200"/>
            <a:ext cx="52578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  <a:effectLst>
            <a:outerShdw sx="100000" sy="100000" kx="0" ky="0" algn="bl" rotWithShape="0" blurRad="152400" dist="25400" dir="5400000">
              <a:srgbClr val="9A9384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29400" y="4206240"/>
            <a:ext cx="658368" cy="658368"/>
          </a:xfrm>
          <a:prstGeom prst="ellipse">
            <a:avLst/>
          </a:prstGeom>
          <a:solidFill>
            <a:srgbClr val="C4643C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4361688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79792" y="421538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Some days had nobody</a:t>
            </a:r>
            <a:endParaRPr lang="en-US" sz="1900" dirty="0"/>
          </a:p>
        </p:txBody>
      </p:sp>
      <p:sp>
        <p:nvSpPr>
          <p:cNvPr id="23" name="Text 17"/>
          <p:cNvSpPr txBox="1"/>
          <p:nvPr/>
        </p:nvSpPr>
        <p:spPr>
          <a:xfrm>
            <a:off x="7479792" y="4636008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blank day was only noticed when it arrived — and by then the class had no snack.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calendar, on every phone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whiteboard, but visible from the school run.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38528"/>
            <a:ext cx="621792" cy="621792"/>
          </a:xfrm>
          <a:prstGeom prst="ellipse">
            <a:avLst/>
          </a:prstGeom>
          <a:solidFill>
            <a:srgbClr val="3F6F52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2084832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920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the whole term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2304288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snack day for the classroom, with school holidays already taken out.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3355848"/>
            <a:ext cx="621792" cy="621792"/>
          </a:xfrm>
          <a:prstGeom prst="ellipse">
            <a:avLst/>
          </a:prstGeom>
          <a:solidFill>
            <a:srgbClr val="3F6F52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3502152"/>
            <a:ext cx="329184" cy="32918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63040" y="3337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 a day in one tap</a:t>
            </a:r>
            <a:endParaRPr lang="en-US" sz="1900" dirty="0"/>
          </a:p>
        </p:txBody>
      </p:sp>
      <p:sp>
        <p:nvSpPr>
          <p:cNvPr id="11" name="Text 7"/>
          <p:cNvSpPr txBox="1"/>
          <p:nvPr/>
        </p:nvSpPr>
        <p:spPr>
          <a:xfrm>
            <a:off x="1463040" y="3721608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email, no asking the office. Free days are obvious; taken days show who has them.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" y="4773168"/>
            <a:ext cx="621792" cy="621792"/>
          </a:xfrm>
          <a:prstGeom prst="ellipse">
            <a:avLst/>
          </a:prstGeom>
          <a:solidFill>
            <a:srgbClr val="3F6F52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4919472"/>
            <a:ext cx="329184" cy="32918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63040" y="4754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child's name, not the parent's</a:t>
            </a:r>
            <a:endParaRPr lang="en-US" sz="1900" dirty="0"/>
          </a:p>
        </p:txBody>
      </p:sp>
      <p:sp>
        <p:nvSpPr>
          <p:cNvPr id="15" name="Text 10"/>
          <p:cNvSpPr txBox="1"/>
          <p:nvPr/>
        </p:nvSpPr>
        <p:spPr>
          <a:xfrm>
            <a:off x="1463040" y="5138928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what the whiteboard said — so the board still reads the way staff think.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903720" y="1325880"/>
            <a:ext cx="5029200" cy="4142232"/>
          </a:xfrm>
          <a:prstGeom prst="roundRect">
            <a:avLst>
              <a:gd name="adj" fmla="val 3091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  <a:effectLst>
            <a:outerShdw sx="100000" sy="100000" kx="0" ky="0" algn="bl" rotWithShape="0" blurRad="152400" dist="25400" dir="5400000">
              <a:srgbClr val="9A9384">
                <a:alpha val="18000"/>
              </a:srgbClr>
            </a:outerShdw>
          </a:effectLst>
        </p:spPr>
      </p:sp>
      <p:sp>
        <p:nvSpPr>
          <p:cNvPr id="17" name="Text 12"/>
          <p:cNvSpPr txBox="1"/>
          <p:nvPr/>
        </p:nvSpPr>
        <p:spPr>
          <a:xfrm>
            <a:off x="7132320" y="14447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October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7223760" y="1810512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8119872" y="1810512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9015984" y="1810512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9912096" y="1810512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</a:t>
            </a:r>
            <a:endParaRPr lang="en-US" sz="1000" dirty="0"/>
          </a:p>
        </p:txBody>
      </p:sp>
      <p:sp>
        <p:nvSpPr>
          <p:cNvPr id="22" name="Text 17"/>
          <p:cNvSpPr txBox="1"/>
          <p:nvPr/>
        </p:nvSpPr>
        <p:spPr>
          <a:xfrm>
            <a:off x="10808208" y="1810512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7223760" y="2121408"/>
            <a:ext cx="804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7223760" y="2176272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0"/>
          <p:cNvSpPr txBox="1"/>
          <p:nvPr/>
        </p:nvSpPr>
        <p:spPr>
          <a:xfrm>
            <a:off x="7223760" y="2423160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8119872" y="2121408"/>
            <a:ext cx="804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8119872" y="2176272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8" name="Text 23"/>
          <p:cNvSpPr txBox="1"/>
          <p:nvPr/>
        </p:nvSpPr>
        <p:spPr>
          <a:xfrm>
            <a:off x="8119872" y="2423160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9015984" y="2121408"/>
            <a:ext cx="804672" cy="658368"/>
          </a:xfrm>
          <a:prstGeom prst="roundRect">
            <a:avLst>
              <a:gd name="adj" fmla="val 11111"/>
            </a:avLst>
          </a:prstGeom>
          <a:solidFill>
            <a:srgbClr val="E7EFE9"/>
          </a:solidFill>
          <a:ln w="12700">
            <a:solidFill>
              <a:srgbClr val="CFE0D5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9015984" y="2176272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1" name="Text 26"/>
          <p:cNvSpPr txBox="1"/>
          <p:nvPr/>
        </p:nvSpPr>
        <p:spPr>
          <a:xfrm>
            <a:off x="9015984" y="2423160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F6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9912096" y="2121408"/>
            <a:ext cx="804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9912096" y="2176272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34" name="Text 29"/>
          <p:cNvSpPr txBox="1"/>
          <p:nvPr/>
        </p:nvSpPr>
        <p:spPr>
          <a:xfrm>
            <a:off x="9912096" y="2423160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900" dirty="0"/>
          </a:p>
        </p:txBody>
      </p:sp>
      <p:sp>
        <p:nvSpPr>
          <p:cNvPr id="35" name="Shape 30"/>
          <p:cNvSpPr/>
          <p:nvPr/>
        </p:nvSpPr>
        <p:spPr>
          <a:xfrm>
            <a:off x="10808208" y="2121408"/>
            <a:ext cx="804672" cy="658368"/>
          </a:xfrm>
          <a:prstGeom prst="roundRect">
            <a:avLst>
              <a:gd name="adj" fmla="val 11111"/>
            </a:avLst>
          </a:prstGeom>
          <a:solidFill>
            <a:srgbClr val="E7EFE9"/>
          </a:solidFill>
          <a:ln w="12700">
            <a:solidFill>
              <a:srgbClr val="CFE0D5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10808208" y="2176272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37" name="Text 32"/>
          <p:cNvSpPr txBox="1"/>
          <p:nvPr/>
        </p:nvSpPr>
        <p:spPr>
          <a:xfrm>
            <a:off x="10808208" y="2423160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F6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Diya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7223760" y="2871216"/>
            <a:ext cx="804672" cy="658368"/>
          </a:xfrm>
          <a:prstGeom prst="roundRect">
            <a:avLst>
              <a:gd name="adj" fmla="val 11111"/>
            </a:avLst>
          </a:prstGeom>
          <a:solidFill>
            <a:srgbClr val="FBEEE7"/>
          </a:solidFill>
          <a:ln w="12700">
            <a:solidFill>
              <a:srgbClr val="F0D9CD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7223760" y="2926080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6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40" name="Text 35"/>
          <p:cNvSpPr txBox="1"/>
          <p:nvPr/>
        </p:nvSpPr>
        <p:spPr>
          <a:xfrm>
            <a:off x="7223760" y="3172968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6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900" dirty="0"/>
          </a:p>
        </p:txBody>
      </p:sp>
      <p:sp>
        <p:nvSpPr>
          <p:cNvPr id="41" name="Shape 36"/>
          <p:cNvSpPr/>
          <p:nvPr/>
        </p:nvSpPr>
        <p:spPr>
          <a:xfrm>
            <a:off x="8119872" y="2871216"/>
            <a:ext cx="804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</p:spPr>
      </p:sp>
      <p:sp>
        <p:nvSpPr>
          <p:cNvPr id="42" name="Text 37"/>
          <p:cNvSpPr txBox="1"/>
          <p:nvPr/>
        </p:nvSpPr>
        <p:spPr>
          <a:xfrm>
            <a:off x="8119872" y="2926080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43" name="Text 38"/>
          <p:cNvSpPr txBox="1"/>
          <p:nvPr/>
        </p:nvSpPr>
        <p:spPr>
          <a:xfrm>
            <a:off x="8119872" y="3172968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900" dirty="0"/>
          </a:p>
        </p:txBody>
      </p:sp>
      <p:sp>
        <p:nvSpPr>
          <p:cNvPr id="44" name="Shape 39"/>
          <p:cNvSpPr/>
          <p:nvPr/>
        </p:nvSpPr>
        <p:spPr>
          <a:xfrm>
            <a:off x="9015984" y="2871216"/>
            <a:ext cx="804672" cy="658368"/>
          </a:xfrm>
          <a:prstGeom prst="roundRect">
            <a:avLst>
              <a:gd name="adj" fmla="val 11111"/>
            </a:avLst>
          </a:prstGeom>
          <a:solidFill>
            <a:srgbClr val="E7EFE9"/>
          </a:solidFill>
          <a:ln w="12700">
            <a:solidFill>
              <a:srgbClr val="CFE0D5"/>
            </a:solidFill>
            <a:prstDash val="solid"/>
          </a:ln>
        </p:spPr>
      </p:sp>
      <p:sp>
        <p:nvSpPr>
          <p:cNvPr id="45" name="Text 40"/>
          <p:cNvSpPr txBox="1"/>
          <p:nvPr/>
        </p:nvSpPr>
        <p:spPr>
          <a:xfrm>
            <a:off x="9015984" y="2926080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46" name="Text 41"/>
          <p:cNvSpPr txBox="1"/>
          <p:nvPr/>
        </p:nvSpPr>
        <p:spPr>
          <a:xfrm>
            <a:off x="9015984" y="3172968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F6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Mateo</a:t>
            </a:r>
            <a:endParaRPr lang="en-US" sz="900" dirty="0"/>
          </a:p>
        </p:txBody>
      </p:sp>
      <p:sp>
        <p:nvSpPr>
          <p:cNvPr id="47" name="Shape 42"/>
          <p:cNvSpPr/>
          <p:nvPr/>
        </p:nvSpPr>
        <p:spPr>
          <a:xfrm>
            <a:off x="9912096" y="2871216"/>
            <a:ext cx="804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</p:spPr>
      </p:sp>
      <p:sp>
        <p:nvSpPr>
          <p:cNvPr id="48" name="Text 43"/>
          <p:cNvSpPr txBox="1"/>
          <p:nvPr/>
        </p:nvSpPr>
        <p:spPr>
          <a:xfrm>
            <a:off x="9912096" y="2926080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49" name="Text 44"/>
          <p:cNvSpPr txBox="1"/>
          <p:nvPr/>
        </p:nvSpPr>
        <p:spPr>
          <a:xfrm>
            <a:off x="9912096" y="3172968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900" dirty="0"/>
          </a:p>
        </p:txBody>
      </p:sp>
      <p:sp>
        <p:nvSpPr>
          <p:cNvPr id="50" name="Shape 45"/>
          <p:cNvSpPr/>
          <p:nvPr/>
        </p:nvSpPr>
        <p:spPr>
          <a:xfrm>
            <a:off x="10808208" y="2871216"/>
            <a:ext cx="804672" cy="658368"/>
          </a:xfrm>
          <a:prstGeom prst="roundRect">
            <a:avLst>
              <a:gd name="adj" fmla="val 11111"/>
            </a:avLst>
          </a:prstGeom>
          <a:solidFill>
            <a:srgbClr val="E7EFE9"/>
          </a:solidFill>
          <a:ln w="12700">
            <a:solidFill>
              <a:srgbClr val="CFE0D5"/>
            </a:solidFill>
            <a:prstDash val="solid"/>
          </a:ln>
        </p:spPr>
      </p:sp>
      <p:sp>
        <p:nvSpPr>
          <p:cNvPr id="51" name="Text 46"/>
          <p:cNvSpPr txBox="1"/>
          <p:nvPr/>
        </p:nvSpPr>
        <p:spPr>
          <a:xfrm>
            <a:off x="10808208" y="2926080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52" name="Text 47"/>
          <p:cNvSpPr txBox="1"/>
          <p:nvPr/>
        </p:nvSpPr>
        <p:spPr>
          <a:xfrm>
            <a:off x="10808208" y="3172968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F6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Amelia</a:t>
            </a:r>
            <a:endParaRPr lang="en-US" sz="900" dirty="0"/>
          </a:p>
        </p:txBody>
      </p:sp>
      <p:sp>
        <p:nvSpPr>
          <p:cNvPr id="53" name="Shape 48"/>
          <p:cNvSpPr/>
          <p:nvPr/>
        </p:nvSpPr>
        <p:spPr>
          <a:xfrm>
            <a:off x="7223760" y="3621024"/>
            <a:ext cx="804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</p:spPr>
      </p:sp>
      <p:sp>
        <p:nvSpPr>
          <p:cNvPr id="54" name="Text 49"/>
          <p:cNvSpPr txBox="1"/>
          <p:nvPr/>
        </p:nvSpPr>
        <p:spPr>
          <a:xfrm>
            <a:off x="7223760" y="3675888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  <p:sp>
        <p:nvSpPr>
          <p:cNvPr id="55" name="Text 50"/>
          <p:cNvSpPr txBox="1"/>
          <p:nvPr/>
        </p:nvSpPr>
        <p:spPr>
          <a:xfrm>
            <a:off x="7223760" y="3922776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900" dirty="0"/>
          </a:p>
        </p:txBody>
      </p:sp>
      <p:sp>
        <p:nvSpPr>
          <p:cNvPr id="56" name="Shape 51"/>
          <p:cNvSpPr/>
          <p:nvPr/>
        </p:nvSpPr>
        <p:spPr>
          <a:xfrm>
            <a:off x="8119872" y="3621024"/>
            <a:ext cx="804672" cy="658368"/>
          </a:xfrm>
          <a:prstGeom prst="roundRect">
            <a:avLst>
              <a:gd name="adj" fmla="val 11111"/>
            </a:avLst>
          </a:prstGeom>
          <a:solidFill>
            <a:srgbClr val="E7EFE9"/>
          </a:solidFill>
          <a:ln w="12700">
            <a:solidFill>
              <a:srgbClr val="CFE0D5"/>
            </a:solidFill>
            <a:prstDash val="solid"/>
          </a:ln>
        </p:spPr>
      </p:sp>
      <p:sp>
        <p:nvSpPr>
          <p:cNvPr id="57" name="Text 52"/>
          <p:cNvSpPr txBox="1"/>
          <p:nvPr/>
        </p:nvSpPr>
        <p:spPr>
          <a:xfrm>
            <a:off x="8119872" y="3675888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58" name="Text 53"/>
          <p:cNvSpPr txBox="1"/>
          <p:nvPr/>
        </p:nvSpPr>
        <p:spPr>
          <a:xfrm>
            <a:off x="8119872" y="3922776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F6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Noor</a:t>
            </a:r>
            <a:endParaRPr lang="en-US" sz="900" dirty="0"/>
          </a:p>
        </p:txBody>
      </p:sp>
      <p:sp>
        <p:nvSpPr>
          <p:cNvPr id="59" name="Shape 54"/>
          <p:cNvSpPr/>
          <p:nvPr/>
        </p:nvSpPr>
        <p:spPr>
          <a:xfrm>
            <a:off x="9015984" y="3621024"/>
            <a:ext cx="804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</p:spPr>
      </p:sp>
      <p:sp>
        <p:nvSpPr>
          <p:cNvPr id="60" name="Text 55"/>
          <p:cNvSpPr txBox="1"/>
          <p:nvPr/>
        </p:nvSpPr>
        <p:spPr>
          <a:xfrm>
            <a:off x="9015984" y="3675888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  <p:sp>
        <p:nvSpPr>
          <p:cNvPr id="61" name="Text 56"/>
          <p:cNvSpPr txBox="1"/>
          <p:nvPr/>
        </p:nvSpPr>
        <p:spPr>
          <a:xfrm>
            <a:off x="9015984" y="3922776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900" dirty="0"/>
          </a:p>
        </p:txBody>
      </p:sp>
      <p:sp>
        <p:nvSpPr>
          <p:cNvPr id="62" name="Shape 57"/>
          <p:cNvSpPr/>
          <p:nvPr/>
        </p:nvSpPr>
        <p:spPr>
          <a:xfrm>
            <a:off x="9912096" y="3621024"/>
            <a:ext cx="804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</p:spPr>
      </p:sp>
      <p:sp>
        <p:nvSpPr>
          <p:cNvPr id="63" name="Text 58"/>
          <p:cNvSpPr txBox="1"/>
          <p:nvPr/>
        </p:nvSpPr>
        <p:spPr>
          <a:xfrm>
            <a:off x="9912096" y="3675888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  <p:sp>
        <p:nvSpPr>
          <p:cNvPr id="64" name="Text 59"/>
          <p:cNvSpPr txBox="1"/>
          <p:nvPr/>
        </p:nvSpPr>
        <p:spPr>
          <a:xfrm>
            <a:off x="9912096" y="3922776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900" dirty="0"/>
          </a:p>
        </p:txBody>
      </p:sp>
      <p:sp>
        <p:nvSpPr>
          <p:cNvPr id="65" name="Shape 60"/>
          <p:cNvSpPr/>
          <p:nvPr/>
        </p:nvSpPr>
        <p:spPr>
          <a:xfrm>
            <a:off x="10808208" y="3621024"/>
            <a:ext cx="804672" cy="658368"/>
          </a:xfrm>
          <a:prstGeom prst="roundRect">
            <a:avLst>
              <a:gd name="adj" fmla="val 11111"/>
            </a:avLst>
          </a:prstGeom>
          <a:solidFill>
            <a:srgbClr val="FBEEE7"/>
          </a:solidFill>
          <a:ln w="12700">
            <a:solidFill>
              <a:srgbClr val="F0D9CD"/>
            </a:solidFill>
            <a:prstDash val="solid"/>
          </a:ln>
        </p:spPr>
      </p:sp>
      <p:sp>
        <p:nvSpPr>
          <p:cNvPr id="66" name="Text 61"/>
          <p:cNvSpPr txBox="1"/>
          <p:nvPr/>
        </p:nvSpPr>
        <p:spPr>
          <a:xfrm>
            <a:off x="10808208" y="3675888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6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100" dirty="0"/>
          </a:p>
        </p:txBody>
      </p:sp>
      <p:sp>
        <p:nvSpPr>
          <p:cNvPr id="67" name="Text 62"/>
          <p:cNvSpPr txBox="1"/>
          <p:nvPr/>
        </p:nvSpPr>
        <p:spPr>
          <a:xfrm>
            <a:off x="10808208" y="3922776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6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900" dirty="0"/>
          </a:p>
        </p:txBody>
      </p:sp>
      <p:sp>
        <p:nvSpPr>
          <p:cNvPr id="68" name="Shape 63"/>
          <p:cNvSpPr/>
          <p:nvPr/>
        </p:nvSpPr>
        <p:spPr>
          <a:xfrm>
            <a:off x="7223760" y="4370832"/>
            <a:ext cx="804672" cy="658368"/>
          </a:xfrm>
          <a:prstGeom prst="roundRect">
            <a:avLst>
              <a:gd name="adj" fmla="val 11111"/>
            </a:avLst>
          </a:prstGeom>
          <a:solidFill>
            <a:srgbClr val="E7EFE9"/>
          </a:solidFill>
          <a:ln w="12700">
            <a:solidFill>
              <a:srgbClr val="CFE0D5"/>
            </a:solidFill>
            <a:prstDash val="solid"/>
          </a:ln>
        </p:spPr>
      </p:sp>
      <p:sp>
        <p:nvSpPr>
          <p:cNvPr id="69" name="Text 64"/>
          <p:cNvSpPr txBox="1"/>
          <p:nvPr/>
        </p:nvSpPr>
        <p:spPr>
          <a:xfrm>
            <a:off x="7223760" y="4425696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100" dirty="0"/>
          </a:p>
        </p:txBody>
      </p:sp>
      <p:sp>
        <p:nvSpPr>
          <p:cNvPr id="70" name="Text 65"/>
          <p:cNvSpPr txBox="1"/>
          <p:nvPr/>
        </p:nvSpPr>
        <p:spPr>
          <a:xfrm>
            <a:off x="7223760" y="4672584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F6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Elif</a:t>
            </a:r>
            <a:endParaRPr lang="en-US" sz="900" dirty="0"/>
          </a:p>
        </p:txBody>
      </p:sp>
      <p:sp>
        <p:nvSpPr>
          <p:cNvPr id="71" name="Shape 66"/>
          <p:cNvSpPr/>
          <p:nvPr/>
        </p:nvSpPr>
        <p:spPr>
          <a:xfrm>
            <a:off x="8119872" y="4370832"/>
            <a:ext cx="804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</p:spPr>
      </p:sp>
      <p:sp>
        <p:nvSpPr>
          <p:cNvPr id="72" name="Text 67"/>
          <p:cNvSpPr txBox="1"/>
          <p:nvPr/>
        </p:nvSpPr>
        <p:spPr>
          <a:xfrm>
            <a:off x="8119872" y="4425696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100" dirty="0"/>
          </a:p>
        </p:txBody>
      </p:sp>
      <p:sp>
        <p:nvSpPr>
          <p:cNvPr id="73" name="Text 68"/>
          <p:cNvSpPr txBox="1"/>
          <p:nvPr/>
        </p:nvSpPr>
        <p:spPr>
          <a:xfrm>
            <a:off x="8119872" y="4672584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900" dirty="0"/>
          </a:p>
        </p:txBody>
      </p:sp>
      <p:sp>
        <p:nvSpPr>
          <p:cNvPr id="74" name="Shape 69"/>
          <p:cNvSpPr/>
          <p:nvPr/>
        </p:nvSpPr>
        <p:spPr>
          <a:xfrm>
            <a:off x="9015984" y="4370832"/>
            <a:ext cx="804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</p:spPr>
      </p:sp>
      <p:sp>
        <p:nvSpPr>
          <p:cNvPr id="75" name="Text 70"/>
          <p:cNvSpPr txBox="1"/>
          <p:nvPr/>
        </p:nvSpPr>
        <p:spPr>
          <a:xfrm>
            <a:off x="9015984" y="4425696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100" dirty="0"/>
          </a:p>
        </p:txBody>
      </p:sp>
      <p:sp>
        <p:nvSpPr>
          <p:cNvPr id="76" name="Text 71"/>
          <p:cNvSpPr txBox="1"/>
          <p:nvPr/>
        </p:nvSpPr>
        <p:spPr>
          <a:xfrm>
            <a:off x="9015984" y="4672584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900" dirty="0"/>
          </a:p>
        </p:txBody>
      </p:sp>
      <p:sp>
        <p:nvSpPr>
          <p:cNvPr id="77" name="Shape 72"/>
          <p:cNvSpPr/>
          <p:nvPr/>
        </p:nvSpPr>
        <p:spPr>
          <a:xfrm>
            <a:off x="9912096" y="4370832"/>
            <a:ext cx="804672" cy="658368"/>
          </a:xfrm>
          <a:prstGeom prst="roundRect">
            <a:avLst>
              <a:gd name="adj" fmla="val 11111"/>
            </a:avLst>
          </a:prstGeom>
          <a:solidFill>
            <a:srgbClr val="E7EFE9"/>
          </a:solidFill>
          <a:ln w="12700">
            <a:solidFill>
              <a:srgbClr val="CFE0D5"/>
            </a:solidFill>
            <a:prstDash val="solid"/>
          </a:ln>
        </p:spPr>
      </p:sp>
      <p:sp>
        <p:nvSpPr>
          <p:cNvPr id="78" name="Text 73"/>
          <p:cNvSpPr txBox="1"/>
          <p:nvPr/>
        </p:nvSpPr>
        <p:spPr>
          <a:xfrm>
            <a:off x="9912096" y="4425696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100" dirty="0"/>
          </a:p>
        </p:txBody>
      </p:sp>
      <p:sp>
        <p:nvSpPr>
          <p:cNvPr id="79" name="Text 74"/>
          <p:cNvSpPr txBox="1"/>
          <p:nvPr/>
        </p:nvSpPr>
        <p:spPr>
          <a:xfrm>
            <a:off x="9912096" y="4672584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F6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Zara</a:t>
            </a:r>
            <a:endParaRPr lang="en-US" sz="900" dirty="0"/>
          </a:p>
        </p:txBody>
      </p:sp>
      <p:sp>
        <p:nvSpPr>
          <p:cNvPr id="80" name="Shape 75"/>
          <p:cNvSpPr/>
          <p:nvPr/>
        </p:nvSpPr>
        <p:spPr>
          <a:xfrm>
            <a:off x="10808208" y="4370832"/>
            <a:ext cx="804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</p:spPr>
      </p:sp>
      <p:sp>
        <p:nvSpPr>
          <p:cNvPr id="81" name="Text 76"/>
          <p:cNvSpPr txBox="1"/>
          <p:nvPr/>
        </p:nvSpPr>
        <p:spPr>
          <a:xfrm>
            <a:off x="10808208" y="4425696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00" dirty="0"/>
          </a:p>
        </p:txBody>
      </p:sp>
      <p:sp>
        <p:nvSpPr>
          <p:cNvPr id="82" name="Text 77"/>
          <p:cNvSpPr txBox="1"/>
          <p:nvPr/>
        </p:nvSpPr>
        <p:spPr>
          <a:xfrm>
            <a:off x="10808208" y="4672584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it does the chasing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 a whiteboard could never do. Every message is sent once, automatically.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9384"/>
            <a:ext cx="457200" cy="457200"/>
          </a:xfrm>
          <a:prstGeom prst="ellipse">
            <a:avLst/>
          </a:prstGeom>
          <a:solidFill>
            <a:srgbClr val="3F6F52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039112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61872" y="18745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day is tomorrow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261872" y="2203704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family who signed up, the evening before.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980944"/>
            <a:ext cx="457200" cy="457200"/>
          </a:xfrm>
          <a:prstGeom prst="ellipse">
            <a:avLst/>
          </a:prstGeom>
          <a:solidFill>
            <a:srgbClr val="3F6F52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3090672"/>
            <a:ext cx="237744" cy="23774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61872" y="29260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day is next week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1261872" y="3255264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Enough notice to swap if it doesn't work.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4032504"/>
            <a:ext cx="457200" cy="457200"/>
          </a:xfrm>
          <a:prstGeom prst="ellipse">
            <a:avLst/>
          </a:prstGeom>
          <a:solidFill>
            <a:srgbClr val="3F6F52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4142232"/>
            <a:ext cx="237744" cy="23774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61872" y="397764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Days still need a family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1261872" y="4306824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to families who have not taken a turn yet.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5084064"/>
            <a:ext cx="457200" cy="457200"/>
          </a:xfrm>
          <a:prstGeom prst="ellipse">
            <a:avLst/>
          </a:prstGeom>
          <a:solidFill>
            <a:srgbClr val="3F6F52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5193792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261872" y="502920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haven't signed up at all</a:t>
            </a:r>
            <a:endParaRPr lang="en-US" sz="1700" dirty="0"/>
          </a:p>
        </p:txBody>
      </p:sp>
      <p:sp>
        <p:nvSpPr>
          <p:cNvPr id="19" name="Text 13"/>
          <p:cNvSpPr txBox="1"/>
          <p:nvPr/>
        </p:nvSpPr>
        <p:spPr>
          <a:xfrm>
            <a:off x="1261872" y="5358384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gentle weekly nudge, never to someone already booked.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7223760" y="1828800"/>
            <a:ext cx="4297680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E6E0D6"/>
            </a:solidFill>
            <a:prstDash val="solid"/>
          </a:ln>
          <a:effectLst>
            <a:outerShdw sx="100000" sy="100000" kx="0" ky="0" algn="bl" rotWithShape="0" blurRad="152400" dist="25400" dir="5400000">
              <a:srgbClr val="9A9384">
                <a:alpha val="1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7498080" y="2084832"/>
            <a:ext cx="384048" cy="384048"/>
          </a:xfrm>
          <a:prstGeom prst="ellipse">
            <a:avLst/>
          </a:prstGeom>
          <a:solidFill>
            <a:srgbClr val="3F6F52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8664" y="2185416"/>
            <a:ext cx="182880" cy="18288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8001000" y="2103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Burlington Montessori School</a:t>
            </a:r>
            <a:endParaRPr lang="en-US" sz="1100" dirty="0"/>
          </a:p>
        </p:txBody>
      </p:sp>
      <p:sp>
        <p:nvSpPr>
          <p:cNvPr id="24" name="Text 17"/>
          <p:cNvSpPr txBox="1"/>
          <p:nvPr/>
        </p:nvSpPr>
        <p:spPr>
          <a:xfrm>
            <a:off x="7498080" y="260604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C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 — you're bringing snacks to Classroom 1 tomorrow (Wed, Oct 16): a dry snack and fruit. Thank you!</a:t>
            </a:r>
            <a:endParaRPr lang="en-US" sz="1400" dirty="0"/>
          </a:p>
        </p:txBody>
      </p:sp>
      <p:sp>
        <p:nvSpPr>
          <p:cNvPr id="25" name="Text 18"/>
          <p:cNvSpPr txBox="1"/>
          <p:nvPr/>
        </p:nvSpPr>
        <p:spPr>
          <a:xfrm>
            <a:off x="7498080" y="36758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F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by email today; by text once carrier registration clears.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7223760" y="4343400"/>
            <a:ext cx="4297680" cy="1371600"/>
          </a:xfrm>
          <a:prstGeom prst="roundRect">
            <a:avLst>
              <a:gd name="adj" fmla="val 9333"/>
            </a:avLst>
          </a:prstGeom>
          <a:solidFill>
            <a:srgbClr val="E7EFE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7498080" y="4572000"/>
            <a:ext cx="457200" cy="457200"/>
          </a:xfrm>
          <a:prstGeom prst="ellipse">
            <a:avLst/>
          </a:prstGeom>
          <a:solidFill>
            <a:srgbClr val="3F6F52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7808" y="4681728"/>
            <a:ext cx="237744" cy="237744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8092440" y="45537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A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office sees the gaps</a:t>
            </a:r>
            <a:endParaRPr lang="en-US" sz="1500" dirty="0"/>
          </a:p>
        </p:txBody>
      </p:sp>
      <p:sp>
        <p:nvSpPr>
          <p:cNvPr id="30" name="Text 22"/>
          <p:cNvSpPr txBox="1"/>
          <p:nvPr/>
        </p:nvSpPr>
        <p:spPr>
          <a:xfrm>
            <a:off x="8092440" y="486460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4A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per classroom, which days are still open, and which children have nothing booked.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94C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stands today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B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Live, with the full roster loaded from the school’s own spreadsheet.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2057400"/>
            <a:ext cx="3291840" cy="1691640"/>
          </a:xfrm>
          <a:prstGeom prst="roundRect">
            <a:avLst>
              <a:gd name="adj" fmla="val 7568"/>
            </a:avLst>
          </a:prstGeom>
          <a:solidFill>
            <a:srgbClr val="31563F"/>
          </a:solidFill>
          <a:ln w="12700">
            <a:solidFill>
              <a:srgbClr val="406B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22402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29626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accounts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323697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from the contact sheet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80560" y="2057400"/>
            <a:ext cx="3291840" cy="1691640"/>
          </a:xfrm>
          <a:prstGeom prst="roundRect">
            <a:avLst>
              <a:gd name="adj" fmla="val 7568"/>
            </a:avLst>
          </a:prstGeom>
          <a:solidFill>
            <a:srgbClr val="31563F"/>
          </a:solidFill>
          <a:ln w="12700">
            <a:solidFill>
              <a:srgbClr val="406B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00600" y="22402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</a:t>
            </a:r>
            <a:endParaRPr lang="en-US" sz="4600" dirty="0"/>
          </a:p>
        </p:txBody>
      </p:sp>
      <p:sp>
        <p:nvSpPr>
          <p:cNvPr id="10" name="Text 8"/>
          <p:cNvSpPr txBox="1"/>
          <p:nvPr/>
        </p:nvSpPr>
        <p:spPr>
          <a:xfrm>
            <a:off x="4800600" y="29626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323697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three classrooms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38160" y="2057400"/>
            <a:ext cx="3291840" cy="1691640"/>
          </a:xfrm>
          <a:prstGeom prst="roundRect">
            <a:avLst>
              <a:gd name="adj" fmla="val 7568"/>
            </a:avLst>
          </a:prstGeom>
          <a:solidFill>
            <a:srgbClr val="31563F"/>
          </a:solidFill>
          <a:ln w="12700">
            <a:solidFill>
              <a:srgbClr val="406B4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58200" y="22402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123</a:t>
            </a:r>
            <a:endParaRPr lang="en-US" sz="4600" dirty="0"/>
          </a:p>
        </p:txBody>
      </p:sp>
      <p:sp>
        <p:nvSpPr>
          <p:cNvPr id="14" name="Text 12"/>
          <p:cNvSpPr txBox="1"/>
          <p:nvPr/>
        </p:nvSpPr>
        <p:spPr>
          <a:xfrm>
            <a:off x="8458200" y="29626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snack days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458200" y="323697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to 6 November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206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6177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7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 to families and let the term fill itself in.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7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families still need an email address before they can sign in.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7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messages switch on once carrier registration completes.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BMS Families</dc:title>
  <dc:subject>PptxGenJS Presentation</dc:subject>
  <dc:creator>Burlington Montessori School</dc:creator>
  <cp:lastModifiedBy>Burlington Montessori School</cp:lastModifiedBy>
  <cp:revision>1</cp:revision>
  <dcterms:created xsi:type="dcterms:W3CDTF">2026-09-25T16:12:49Z</dcterms:created>
  <dcterms:modified xsi:type="dcterms:W3CDTF">2026-09-25T16:12:49Z</dcterms:modified>
</cp:coreProperties>
</file>